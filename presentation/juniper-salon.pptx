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62872ad3caf43d0" /><Relationship Type="http://schemas.openxmlformats.org/officeDocument/2006/relationships/extended-properties" Target="/docProps/app.xml" Id="R337f0857b1a04b67" /><Relationship Type="http://schemas.openxmlformats.org/officeDocument/2006/relationships/officeDocument" Target="/ppt/presentation.xml" Id="R4296e2e3183f4c8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a6615819391494b"/>
  </p:sldMasterIdLst>
  <p:notesMasterIdLst>
    <p:notesMasterId xmlns:r="http://schemas.openxmlformats.org/officeDocument/2006/relationships" r:id="Raa0e2d66774d4afb"/>
  </p:notesMasterIdLst>
  <p:sldIdLst>
    <p:sldId xmlns:r="http://schemas.openxmlformats.org/officeDocument/2006/relationships" id="256" r:id="Rcf8c569c6eb74c0f"/>
    <p:sldId xmlns:r="http://schemas.openxmlformats.org/officeDocument/2006/relationships" id="257" r:id="Rc49d2d771abb4b7b"/>
    <p:sldId xmlns:r="http://schemas.openxmlformats.org/officeDocument/2006/relationships" id="258" r:id="Rfda8c2bc8eec4f68"/>
    <p:sldId xmlns:r="http://schemas.openxmlformats.org/officeDocument/2006/relationships" id="259" r:id="R07cbcfb1994b4e8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63c5345604440ee" /><Relationship Type="http://schemas.openxmlformats.org/officeDocument/2006/relationships/slideMaster" Target="/ppt/slideMasters/slideMaster1.xml" Id="R9a6615819391494b" /><Relationship Type="http://schemas.openxmlformats.org/officeDocument/2006/relationships/notesMaster" Target="/ppt/notesMasters/notesMaster1.xml" Id="Raa0e2d66774d4afb" /><Relationship Type="http://schemas.openxmlformats.org/officeDocument/2006/relationships/presProps" Target="/ppt/presProps.xml" Id="Rc0b5feb9bf25404b" /><Relationship Type="http://schemas.openxmlformats.org/officeDocument/2006/relationships/tableStyles" Target="/ppt/tableStyles.xml" Id="Rfb96b7b518ef4f99" /><Relationship Type="http://schemas.openxmlformats.org/officeDocument/2006/relationships/slide" Target="/ppt/slides/slide1.xml" Id="Rcf8c569c6eb74c0f" /><Relationship Type="http://schemas.openxmlformats.org/officeDocument/2006/relationships/slide" Target="/ppt/slides/slide2.xml" Id="Rc49d2d771abb4b7b" /><Relationship Type="http://schemas.openxmlformats.org/officeDocument/2006/relationships/slide" Target="/ppt/slides/slide3.xml" Id="Rfda8c2bc8eec4f68" /><Relationship Type="http://schemas.openxmlformats.org/officeDocument/2006/relationships/slide" Target="/ppt/slides/slide4.xml" Id="R07cbcfb1994b4e8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2c4ee04de734be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d8814ee1fae45ab" /><Relationship Type="http://schemas.openxmlformats.org/officeDocument/2006/relationships/notesMaster" Target="/ppt/notesMasters/notesMaster1.xml" Id="R859698743524475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432331e43b24ffd" /><Relationship Type="http://schemas.openxmlformats.org/officeDocument/2006/relationships/notesMaster" Target="/ppt/notesMasters/notesMaster1.xml" Id="R3ba82172b3204c1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05c1015facd45bc" /><Relationship Type="http://schemas.openxmlformats.org/officeDocument/2006/relationships/notesMaster" Target="/ppt/notesMasters/notesMaster1.xml" Id="R01deeeb70ef2455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a03d05cc4e84aa0" /><Relationship Type="http://schemas.openxmlformats.org/officeDocument/2006/relationships/notesMaster" Target="/ppt/notesMasters/notesMaster1.xml" Id="R3d2d132ec35f4a2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evidence/customer-interview.txt, turns 4 and 9. Lena estimated 8–12 cancellations inside 48 hours weekly and around 3 refills. The target is at least half refilled without repeatedly checking. No financial impact or time-saving result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local browser screenshot. Demo clients and messages are simulated. Screenshot uses June 10, 2030 and 20-second offers; standard mode uses real Los Angeles time and 15 minutes. Client acceptance reserves a hold; the app cannot verify a real Square update. Source: customer interview turns 2–8,13–15.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Observed evidence: evidence/worker-recovery.json records SIGKILL, unchanged offer ID/deadline, one offer, and successful acceptance after restart. tests/workflow.test.ts covers expired replies, repeated acceptance, retries, and permanent delivery failure. The restart test stopped the background Worker, not the entire Temporal service. No real SMS side-effect guarantee is claimed. Staff confirmation and release remain described on slide 2 and in the demo.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Illustrative timeline requested by the user, based on October 4, 2026: two weeks of preparation to October 18, followed by a proposed two-week pilot ending November 1. Dates are not a delivery commitment and launch depends on setup and testing. Lena and Carla were confirmed as pilot owners in customer interview turn 15. At least 50% refilled is Lena’s target, not observed performance. Zero conflicting booking promises is the proposed trust criterion. Refill rate means confirmed refills divided by eligible openings. Track staff follow-ups against baseline; no numerical staff-time target was established. The screenshot shows a fictional demo booking. Live messaging and waitlist integration, staff sign-in, consent records, and checking Square against the app are prerequisite work. One active opening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74100b11ca449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1054a8525864041" /><Relationship Type="http://schemas.openxmlformats.org/officeDocument/2006/relationships/slideLayout" Target="/ppt/slideLayouts/slideLayout1.xml" Id="R3aa5e60be52c47a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aa5e60be52c47a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e196f706d7475b" /><Relationship Type="http://schemas.openxmlformats.org/officeDocument/2006/relationships/notesSlide" Target="/ppt/notesSlides/notesSlide1.xml" Id="R822fc4780e0945b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3e0470404048a4" /><Relationship Type="http://schemas.openxmlformats.org/officeDocument/2006/relationships/image" Target="/ppt/media/image.jpeg" Id="Rd42b87c8051b4193" /><Relationship Type="http://schemas.openxmlformats.org/officeDocument/2006/relationships/notesSlide" Target="/ppt/notesSlides/notesSlide2.xml" Id="Rdeec240ed3fc4b3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d0ac9400ef4f9e" /><Relationship Type="http://schemas.openxmlformats.org/officeDocument/2006/relationships/notesSlide" Target="/ppt/notesSlides/notesSlide3.xml" Id="Rfee9358384dc4d6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f789f07bc049be" /><Relationship Type="http://schemas.openxmlformats.org/officeDocument/2006/relationships/image" Target="/ppt/media/image2.jpeg" Id="R1eb257aac937472d" /><Relationship Type="http://schemas.openxmlformats.org/officeDocument/2006/relationships/notesSlide" Target="/ppt/notesSlides/notesSlide4.xml" Id="Ra04ad420366141a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43E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48D9F0-E679-4E03-B305-0AE980F07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AE8C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DAE8C6"/>
                </a:solidFill>
                <a:latin typeface="Helvetica Neue"/>
                <a:ea typeface="Helvetica Neue"/>
                <a:cs typeface="Helvetica Neue"/>
              </a:rPr>
              <a:t>JUNIPER SALON  /  THE OPENING DESK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4B0700-AE97-48E9-9959-44C9DA4B7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5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F6F4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F6F4ED"/>
                </a:solidFill>
                <a:latin typeface="Helvetica Neue"/>
                <a:ea typeface="Helvetica Neue"/>
                <a:cs typeface="Helvetica Neue"/>
              </a:rPr>
              <a:t>More filled appointments.</a:t>
            </a:r>
          </a:p>
          <a:p xmlns:a="http://schemas.openxmlformats.org/drawingml/2006/main">
            <a:pPr>
              <a:defRPr sz="3750" b="1">
                <a:solidFill>
                  <a:srgbClr val="F6F4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F6F4ED"/>
                </a:solidFill>
                <a:latin typeface="Helvetica Neue"/>
                <a:ea typeface="Helvetica Neue"/>
                <a:cs typeface="Helvetica Neue"/>
              </a:rPr>
              <a:t>Less time chasing replies.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662F14-F0B4-4A0E-96A1-095BC5DBF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3412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DAE8C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DAE8C6"/>
                </a:solidFill>
                <a:latin typeface="Helvetica Neue"/>
                <a:ea typeface="Helvetica Neue"/>
                <a:cs typeface="Helvetica Neue"/>
              </a:rPr>
              <a:t>1 /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DD2F07-F226-414A-A2CA-CFC9B71D5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6F4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F6F4ED"/>
                </a:solidFill>
                <a:latin typeface="Helvetica Neue"/>
                <a:ea typeface="Helvetica Neue"/>
                <a:cs typeface="Helvetica Neue"/>
              </a:rPr>
              <a:t>Lena and Carla currently coordinate Square, a spreadsheet, and texts.</a:t>
            </a:r>
          </a:p>
          <a:p xmlns:a="http://schemas.openxmlformats.org/drawingml/2006/main">
            <a:pPr>
              <a:defRPr sz="2100" b="0">
                <a:solidFill>
                  <a:srgbClr val="F6F4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F6F4ED"/>
                </a:solidFill>
                <a:latin typeface="Helvetica Neue"/>
                <a:ea typeface="Helvetica Neue"/>
                <a:cs typeface="Helvetica Neue"/>
              </a:rPr>
              <a:t>Separate replies have left two clients believing they had the same slot.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2A4B60-F941-4D51-A171-8384634B5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DAE8C6"/>
                </a:solidFill>
                <a:latin typeface="Helvetica Neue"/>
                <a:ea typeface="Helvetica Neue"/>
                <a:cs typeface="Helvetica Neue"/>
              </a:defRPr>
            </a:pPr>
            <a:r>
              <a:rPr sz="5700" b="1">
                <a:solidFill>
                  <a:srgbClr val="DAE8C6"/>
                </a:solidFill>
                <a:latin typeface="Helvetica Neue"/>
                <a:ea typeface="Helvetica Neue"/>
                <a:cs typeface="Helvetica Neue"/>
              </a:rPr>
              <a:t>8–12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222718-FBB6-421E-A8CE-472553328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6F4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F6F4ED"/>
                </a:solidFill>
                <a:latin typeface="Helvetica Neue"/>
                <a:ea typeface="Helvetica Neue"/>
                <a:cs typeface="Helvetica Neue"/>
              </a:rPr>
              <a:t>late cancellations each week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A60463-D536-4F01-A9E4-32F15D23A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714750"/>
            <a:ext cx="285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DAE8C6"/>
                </a:solidFill>
                <a:latin typeface="Helvetica Neue"/>
                <a:ea typeface="Helvetica Neue"/>
                <a:cs typeface="Helvetica Neue"/>
              </a:defRPr>
            </a:pPr>
            <a:r>
              <a:rPr sz="5700" b="1">
                <a:solidFill>
                  <a:srgbClr val="DAE8C6"/>
                </a:solidFill>
                <a:latin typeface="Helvetica Neue"/>
                <a:ea typeface="Helvetica Neue"/>
                <a:cs typeface="Helvetica Neue"/>
              </a:rPr>
              <a:t>~3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52921F-4569-4953-B26E-11DB8F7DD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1487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6F4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F6F4ED"/>
                </a:solidFill>
                <a:latin typeface="Helvetica Neue"/>
                <a:ea typeface="Helvetica Neue"/>
                <a:cs typeface="Helvetica Neue"/>
              </a:rPr>
              <a:t>currently refilled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AA7D18-05E8-4F62-9120-781474754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3714750"/>
            <a:ext cx="314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DAE8C6"/>
                </a:solidFill>
                <a:latin typeface="Helvetica Neue"/>
                <a:ea typeface="Helvetica Neue"/>
                <a:cs typeface="Helvetica Neue"/>
              </a:defRPr>
            </a:pPr>
            <a:r>
              <a:rPr sz="5700" b="1">
                <a:solidFill>
                  <a:srgbClr val="DAE8C6"/>
                </a:solidFill>
                <a:latin typeface="Helvetica Neue"/>
                <a:ea typeface="Helvetica Neue"/>
                <a:cs typeface="Helvetica Neue"/>
              </a:rPr>
              <a:t>≥50%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F0E997-95FC-40B5-B3D4-5AACCC62C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4714875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6F4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F6F4ED"/>
                </a:solidFill>
                <a:latin typeface="Helvetica Neue"/>
                <a:ea typeface="Helvetica Neue"/>
                <a:cs typeface="Helvetica Neue"/>
              </a:rPr>
              <a:t>Lena’s refill target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336A34-2C02-4826-9373-CC721F338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DAE8C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DAE8C6"/>
                </a:solidFill>
                <a:latin typeface="Helvetica Neue"/>
                <a:ea typeface="Helvetica Neue"/>
                <a:cs typeface="Helvetica Neue"/>
              </a:rPr>
              <a:t>Customer estimates and target, not measured prototype results. Source: Lena interview, turns 4 and 9.</a:t>
            </a:r>
          </a:p>
        </p:txBody>
      </p:sp>
    </p:spTree>
    <p:extLst>
      <p:ext uri="{BB962C8B-B14F-4D97-AF65-F5344CB8AC3E}">
        <p14:creationId xmlns:p14="http://schemas.microsoft.com/office/powerpoint/2010/main" val="94976804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38ED2B-410F-49E4-B95B-BBDE6A51E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171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617166"/>
                </a:solidFill>
                <a:latin typeface="Helvetica Neue"/>
                <a:ea typeface="Helvetica Neue"/>
                <a:cs typeface="Helvetica Neue"/>
              </a:rPr>
              <a:t>JUNIPER SALON  /  THE OPENING DESK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5976B4-4352-49EB-BE39-7D29685A4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5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An acceptance holds the spot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40D9C3-2977-4A73-BAD4-AD12CB510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3412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rPr>
              <a:t>2 /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069AF4-5175-406B-A002-8B665E827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rPr>
              <a:t>Staff complete the booking in Square before recording confirmation.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3DA1F9-E489-4F93-8CF4-88C504E8B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01  Match the waitlist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2CB5D9-5CE8-43CF-A42F-502E68DF0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Service, duration, stylist, time,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and permission to contact.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17F93D-5187-4886-9CFE-63F1A19F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02  Offer one at a time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FFA573-1B6A-428A-8FD7-F4C0BD1D3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Earliest eligible client gets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an exclusive 15-minute offer.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2D9F47-259E-41BB-B010-CC533BA30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03  Hold, then confirm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B994CA-814F-4E69-AA57-5330A76F4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Lena or Carla updates Square.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2b87c8051b4193"/>
          <a:stretch xmlns:a="http://schemas.openxmlformats.org/drawingml/2006/main"/>
        </p:blipFill>
        <p:spPr>
          <a:xfrm xmlns:a="http://schemas.openxmlformats.org/drawingml/2006/main">
            <a:off x="4553048" y="2524125"/>
            <a:ext cx="7048304" cy="3810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808764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9748A-5541-4E49-AC14-8456E17F0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171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617166"/>
                </a:solidFill>
                <a:latin typeface="Helvetica Neue"/>
                <a:ea typeface="Helvetica Neue"/>
                <a:cs typeface="Helvetica Neue"/>
              </a:rPr>
              <a:t>JUNIPER SALON  /  THE OPENING DESK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DFAC28-F090-45A8-9F66-928401A5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5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What happens when things go wrong?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C10EA7-512A-489E-A26A-6A7C70E0A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3412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rPr>
              <a:t>3 /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7E6FF1-CF50-4EF1-A148-748C8EF78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rPr>
              <a:t>Temporal remembers who has the offer and how long they have to answer.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4F38B6-94FA-46B7-ACDC-6C6CBB5E2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191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The app stops while someone is deciding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47A882-2E7E-4493-9329-02D05CD52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528637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We stopped and restarted the software handling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the waitlist. It remembered the same client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and their original deadline.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B180D2-548C-4575-9D87-1AEAE08FB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67000"/>
            <a:ext cx="5000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A client replies after their time is up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2D427E-C1CA-45E1-99FC-06EDCC2D0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33750"/>
            <a:ext cx="50006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They see that their offer has expired.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They cannot claim a spot now offered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to someone else.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AF31FE-B679-42D9-88AA-3157A0E94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0100"/>
            <a:ext cx="5191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A text won’t go through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2579B1-D62E-49FB-9638-1D1BABD14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52863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For a temporary problem, the demo tries sending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again. If delivery fails, it offers the opening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to the next client who fits.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D5491A-CB87-4480-A5E9-79601D7D8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10100"/>
            <a:ext cx="5000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A client taps “yes” twice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DE19F2-E7F6-4D57-B476-4AF072373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14925"/>
            <a:ext cx="500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Their spot stays held. The second tap</a:t>
            </a:r>
          </a:p>
          <a:p xmlns:a="http://schemas.openxmlformats.org/drawingml/2006/main">
            <a:pPr>
              <a:def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does not create another reservation.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5BD128-91C8-4CC3-A16D-4B77F9D79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09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rPr>
              <a:t>We tested these situations in the prototype. Text messages are simulated.</a:t>
            </a:r>
          </a:p>
        </p:txBody>
      </p:sp>
    </p:spTree>
    <p:extLst>
      <p:ext uri="{BB962C8B-B14F-4D97-AF65-F5344CB8AC3E}">
        <p14:creationId xmlns:p14="http://schemas.microsoft.com/office/powerpoint/2010/main" val="44688313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AE8050-7B44-4943-B171-7C1055774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6171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617166"/>
                </a:solidFill>
                <a:latin typeface="Helvetica Neue"/>
                <a:ea typeface="Helvetica Neue"/>
                <a:cs typeface="Helvetica Neue"/>
              </a:rPr>
              <a:t>JUNIPER SALON  /  THE OPENING DESK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93A194-2518-4BFF-9A8D-7B0569507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5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A two-week trial with Lena and Carla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242A96-3537-497B-AA2B-F4AEEA1B3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3412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rPr>
              <a:t>4 /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4F85F9-9B9B-49EA-B0FE-38BAB7069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2 weeks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568852-3276-4338-BFC7-DA4229FF7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2095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rPr>
              <a:t>trial length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535AD4-5A01-4DFD-BA4B-FA9149191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8478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≥50%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07EE51-502C-4700-A4DB-B0B0E823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524125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rPr>
              <a:t>openings refilled: target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E62FF1-7CCF-449B-8731-209B7CD5D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47850"/>
            <a:ext cx="161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15E6C9-BC43-420C-848C-77CC37220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524125"/>
            <a:ext cx="333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rPr>
              <a:t>slots promised to two clients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2039A8-D9CB-496F-A9E7-5EB0D1979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676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Before the first real text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B5B455-783E-4287-9FF6-EE2FC9CD5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90925"/>
            <a:ext cx="7000875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28600" indent="-114300">
              <a:spcAft>
                <a:spcPts val="900"/>
              </a:spcAft>
              <a:buChar char="•"/>
              <a:defRPr sz="1800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Connect real texts and the waitlist.</a:t>
            </a:r>
          </a:p>
          <a:p xmlns:a="http://schemas.openxmlformats.org/drawingml/2006/main">
            <a:pPr marL="228600" indent="-114300">
              <a:spcAft>
                <a:spcPts val="900"/>
              </a:spcAft>
              <a:buChar char="•"/>
              <a:defRPr sz="1800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Add staff sign-in and permission to text clients.</a:t>
            </a:r>
          </a:p>
          <a:p xmlns:a="http://schemas.openxmlformats.org/drawingml/2006/main">
            <a:pPr marL="228600" indent="-114300">
              <a:spcAft>
                <a:spcPts val="900"/>
              </a:spcAft>
              <a:buChar char="•"/>
              <a:defRPr sz="1800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Check Square before confirming each booking.</a:t>
            </a:r>
          </a:p>
        </p:txBody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b257aac937472d"/>
          <a:stretch xmlns:a="http://schemas.openxmlformats.org/drawingml/2006/main"/>
        </p:blipFill>
        <p:spPr>
          <a:xfrm xmlns:a="http://schemas.openxmlformats.org/drawingml/2006/main">
            <a:off x="7717790" y="3143250"/>
            <a:ext cx="3900170" cy="15811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9B6797-081B-46AF-A557-CDC1700F0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791075"/>
            <a:ext cx="3190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rPr>
              <a:t>Demo: fictional clients and texts.</a:t>
            </a:r>
          </a:p>
          <a:p xmlns:a="http://schemas.openxmlformats.org/drawingml/2006/main">
            <a:pPr>
              <a:defRPr sz="1275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rPr>
              <a:t>Staff still update Square manually.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9503E6-784A-4698-8AC4-301D3CE6B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76850"/>
            <a:ext cx="9734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3A78D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4DB107-FB5E-4979-98FA-709495C7B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229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3E35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CFF7FF-0D9D-49EE-94A2-6050A6C0A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5229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3E3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B55C44-09D1-493A-AC6F-C1C4EDCC9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5229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3E35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F97F11-C551-4B81-A860-6531860D7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1  OCT 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CBEBCE-8EC0-4873-A26A-A7BD11509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Prepare the checklist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B02EB1-B726-4B85-84FA-3D5E5DA10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4292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2  OCT 18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A3A245-E72A-4C54-BD0F-7738C1B0D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810250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Start the two-week trial</a:t>
            </a:r>
          </a:p>
          <a:p xmlns:a="http://schemas.openxmlformats.org/drawingml/2006/main">
            <a:pPr>
              <a:defRPr sz="15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1 opening at a time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2F575C-CFB9-4301-A20B-6DAD567D1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4292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3  NOV 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4EBBE7-24BA-4519-8ED7-A8F872AB5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810250"/>
            <a:ext cx="2857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Review refills and</a:t>
            </a:r>
          </a:p>
          <a:p xmlns:a="http://schemas.openxmlformats.org/drawingml/2006/main">
            <a:pPr>
              <a:defRPr sz="15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243E35"/>
                </a:solidFill>
                <a:latin typeface="Helvetica Neue"/>
                <a:ea typeface="Helvetica Neue"/>
                <a:cs typeface="Helvetica Neue"/>
              </a:rPr>
              <a:t>staff follow-ups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DC6629-7978-484A-ABA0-2496C86F0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17166"/>
                </a:solidFill>
                <a:latin typeface="Helvetica Neue"/>
                <a:ea typeface="Helvetica Neue"/>
                <a:cs typeface="Helvetica Neue"/>
              </a:rPr>
              <a:t>Example dates, not a commitment. Start only after setup and testing. Targets are not results.</a:t>
            </a:r>
          </a:p>
        </p:txBody>
      </p:sp>
    </p:spTree>
    <p:extLst>
      <p:ext uri="{BB962C8B-B14F-4D97-AF65-F5344CB8AC3E}">
        <p14:creationId xmlns:p14="http://schemas.microsoft.com/office/powerpoint/2010/main" val="18754057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2026-10-05T00:03:02.8690000Z</dcterms:created>
  <dcterms:modified xsi:type="dcterms:W3CDTF">2026-10-05T00:03:02.8690000Z</dcterms:modified>
</coreProperties>
</file>