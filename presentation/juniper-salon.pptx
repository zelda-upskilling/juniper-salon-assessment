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c9a9136e18474f" /><Relationship Type="http://schemas.openxmlformats.org/officeDocument/2006/relationships/extended-properties" Target="/docProps/app.xml" Id="Rae690e9fd0e94b77" /><Relationship Type="http://schemas.openxmlformats.org/officeDocument/2006/relationships/officeDocument" Target="/ppt/presentation.xml" Id="Rf54d23055cdc4a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53a0993b964adf"/>
  </p:sldMasterIdLst>
  <p:notesMasterIdLst>
    <p:notesMasterId xmlns:r="http://schemas.openxmlformats.org/officeDocument/2006/relationships" r:id="R92403e7fd00943f0"/>
  </p:notesMasterIdLst>
  <p:sldIdLst>
    <p:sldId xmlns:r="http://schemas.openxmlformats.org/officeDocument/2006/relationships" id="256" r:id="R09c755f11bc147fc"/>
    <p:sldId xmlns:r="http://schemas.openxmlformats.org/officeDocument/2006/relationships" id="257" r:id="Reb6a6780adf04ba5"/>
    <p:sldId xmlns:r="http://schemas.openxmlformats.org/officeDocument/2006/relationships" id="258" r:id="Rcf4df51bc78244ba"/>
    <p:sldId xmlns:r="http://schemas.openxmlformats.org/officeDocument/2006/relationships" id="259" r:id="Rb002f693c42943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566218d8e4691" /><Relationship Type="http://schemas.openxmlformats.org/officeDocument/2006/relationships/slideMaster" Target="/ppt/slideMasters/slideMaster1.xml" Id="Rdf53a0993b964adf" /><Relationship Type="http://schemas.openxmlformats.org/officeDocument/2006/relationships/notesMaster" Target="/ppt/notesMasters/notesMaster1.xml" Id="R92403e7fd00943f0" /><Relationship Type="http://schemas.openxmlformats.org/officeDocument/2006/relationships/presProps" Target="/ppt/presProps.xml" Id="R257b2ec1ed254398" /><Relationship Type="http://schemas.openxmlformats.org/officeDocument/2006/relationships/tableStyles" Target="/ppt/tableStyles.xml" Id="Reec2a50085684498" /><Relationship Type="http://schemas.openxmlformats.org/officeDocument/2006/relationships/slide" Target="/ppt/slides/slide1.xml" Id="R09c755f11bc147fc" /><Relationship Type="http://schemas.openxmlformats.org/officeDocument/2006/relationships/slide" Target="/ppt/slides/slide2.xml" Id="Reb6a6780adf04ba5" /><Relationship Type="http://schemas.openxmlformats.org/officeDocument/2006/relationships/slide" Target="/ppt/slides/slide3.xml" Id="Rcf4df51bc78244ba" /><Relationship Type="http://schemas.openxmlformats.org/officeDocument/2006/relationships/slide" Target="/ppt/slides/slide4.xml" Id="Rb002f693c42943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c6beaabb50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e5c4c298b40a3" /><Relationship Type="http://schemas.openxmlformats.org/officeDocument/2006/relationships/notesMaster" Target="/ppt/notesMasters/notesMaster1.xml" Id="R6a57664ab9384a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e2f4ce567e49c1" /><Relationship Type="http://schemas.openxmlformats.org/officeDocument/2006/relationships/notesMaster" Target="/ppt/notesMasters/notesMaster1.xml" Id="R1f925130300c45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f84dc37ffb4b83" /><Relationship Type="http://schemas.openxmlformats.org/officeDocument/2006/relationships/notesMaster" Target="/ppt/notesMasters/notesMaster1.xml" Id="R4318098fcb4440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1d7cf664584fab" /><Relationship Type="http://schemas.openxmlformats.org/officeDocument/2006/relationships/notesMaster" Target="/ppt/notesMasters/notesMaster1.xml" Id="Rb27ae70c787445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evidence/customer-interview.txt, turns 4 and 9. Lena estimated 8–12 cancellations inside 48 hours weekly and around 3 refills. The target is at least half refilled without repeatedly checking. No financial impact or time-saving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browser screenshot. Demo clients and messages are simulated. Screenshot uses June 10, 2030 and 20-second offers; standard mode uses real Los Angeles time and 15 minutes. Client acceptance reserves a hold; the app cannot verify a real Square update. Source: customer interview turns 2–8,13–15.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evidence: evidence/worker-recovery.json records SIGKILL, unchanged offer ID/deadline, one offer, and successful acceptance after restart. tests/workflow.test.ts covers expired replies, repeated acceptance, retries, and permanent delivery failure. The restart test stopped the background Worker, not the entire Temporal service. No real SMS side-effect guarantee is claimed. Staff confirmation and release remain described on slide 2 and in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timeline requested by the user, based on October 4, 2026: two weeks of preparation to October 18, followed by a proposed two-week pilot ending November 1. Dates are not a delivery commitment and launch depends on setup and testing. Lena and Carla were confirmed as pilot owners in customer interview turn 15. At least 50% refilled is Lena’s target, not observed performance. Zero conflicting booking promises is the proposed trust criterion. Refill rate means confirmed refills divided by eligible openings. Track staff follow-ups against baseline; no numerical staff-time target was established. The screenshot shows a fictional demo booking. Live messaging and waitlist integration, staff sign-in, consent records, and checking Square against the app are prerequisite work. One active opening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56d49743e40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fa4173a82c4a62" /><Relationship Type="http://schemas.openxmlformats.org/officeDocument/2006/relationships/slideLayout" Target="/ppt/slideLayouts/slideLayout1.xml" Id="R315cb1e0033f45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cb1e0033f45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e2c9ae1054595" /><Relationship Type="http://schemas.openxmlformats.org/officeDocument/2006/relationships/notesSlide" Target="/ppt/notesSlides/notesSlide1.xml" Id="R625f3f318d9e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f9133d392409c" /><Relationship Type="http://schemas.openxmlformats.org/officeDocument/2006/relationships/image" Target="/ppt/media/image.jpeg" Id="R66b7f2fc75d9469f" /><Relationship Type="http://schemas.openxmlformats.org/officeDocument/2006/relationships/notesSlide" Target="/ppt/notesSlides/notesSlide2.xml" Id="R5f64e3359ee746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c3321147643ce" /><Relationship Type="http://schemas.openxmlformats.org/officeDocument/2006/relationships/notesSlide" Target="/ppt/notesSlides/notesSlide3.xml" Id="R58f9a2edbc4949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1fe60444f469b" /><Relationship Type="http://schemas.openxmlformats.org/officeDocument/2006/relationships/image" Target="/ppt/media/image2.jpeg" Id="R48b92b5706eb4d9b" /><Relationship Type="http://schemas.openxmlformats.org/officeDocument/2006/relationships/notesSlide" Target="/ppt/notesSlides/notesSlide4.xml" Id="R353f2ccc2a4f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286E3-4D41-4E40-8D1E-FD8351C3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AE8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AE8C6"/>
                </a:solidFill>
                <a:latin typeface="Helvetica Neue"/>
                <a:ea typeface="Helvetica Neue"/>
                <a:cs typeface="Helvetica Neue"/>
              </a:rPr>
              <a:t>JUNIPER SALON  /  THE OPENING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C5786-EF65-4123-9B3C-6CF9DC41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6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6F4ED"/>
                </a:solidFill>
                <a:latin typeface="Helvetica Neue"/>
                <a:ea typeface="Helvetica Neue"/>
                <a:cs typeface="Helvetica Neue"/>
              </a:rPr>
              <a:t>More filled appointments.</a:t>
            </a:r>
          </a:p>
          <a:p xmlns:a="http://schemas.openxmlformats.org/drawingml/2006/main">
            <a:pPr>
              <a:defRPr sz="3750" b="1">
                <a:solidFill>
                  <a:srgbClr val="F6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6F4ED"/>
                </a:solidFill>
                <a:latin typeface="Helvetica Neue"/>
                <a:ea typeface="Helvetica Neue"/>
                <a:cs typeface="Helvetica Neue"/>
              </a:rPr>
              <a:t>Less time chasing replies.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6B261-4EA6-428D-A955-A7E872C9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AE8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AE8C6"/>
                </a:solidFill>
                <a:latin typeface="Helvetica Neue"/>
                <a:ea typeface="Helvetica Neue"/>
                <a:cs typeface="Helvetica Neue"/>
              </a:rPr>
              <a:t>1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E7A9F-0870-45EC-AD8F-C6686ED3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rPr>
              <a:t>Lena and Carla currently coordinate Square, a spreadsheet, and texts.</a:t>
            </a:r>
          </a:p>
          <a:p xmlns:a="http://schemas.openxmlformats.org/drawingml/2006/main">
            <a:pPr>
              <a:defRPr sz="21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rPr>
              <a:t>Separate replies have left two clients believing they had the same slot.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53599-60E8-4374-AE85-399FBFF3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AE8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DAE8C6"/>
                </a:solidFill>
                <a:latin typeface="Helvetica Neue"/>
                <a:ea typeface="Helvetica Neue"/>
                <a:cs typeface="Helvetica Neue"/>
              </a:rPr>
              <a:t>8–12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E78C9-99AC-47CB-9491-EC46D2C3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rPr>
              <a:t>late cancellations each 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A182B-3C61-4097-8331-AD33741B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AE8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DAE8C6"/>
                </a:solidFill>
                <a:latin typeface="Helvetica Neue"/>
                <a:ea typeface="Helvetica Neue"/>
                <a:cs typeface="Helvetica Neue"/>
              </a:rPr>
              <a:t>~3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33054-982B-4B8D-B02D-5F0436B7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rPr>
              <a:t>currently refilled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0842B-F5F2-4DC5-B986-261A0171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7147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AE8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DAE8C6"/>
                </a:solidFill>
                <a:latin typeface="Helvetica Neue"/>
                <a:ea typeface="Helvetica Neue"/>
                <a:cs typeface="Helvetica Neue"/>
              </a:rPr>
              <a:t>≥50%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32CD8-1B79-48C5-9135-A7B382E8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714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6F4ED"/>
                </a:solidFill>
                <a:latin typeface="Helvetica Neue"/>
                <a:ea typeface="Helvetica Neue"/>
                <a:cs typeface="Helvetica Neue"/>
              </a:rPr>
              <a:t>Lena’s refill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02048-ABA3-4C19-ADD9-1E37377E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AE8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AE8C6"/>
                </a:solidFill>
                <a:latin typeface="Helvetica Neue"/>
                <a:ea typeface="Helvetica Neue"/>
                <a:cs typeface="Helvetica Neue"/>
              </a:rPr>
              <a:t>Customer estimates and target, not measured prototype results. Source: Lena interview, turns 4 and 9.</a:t>
            </a:r>
          </a:p>
        </p:txBody>
      </p:sp>
    </p:spTree>
    <p:extLst>
      <p:ext uri="{BB962C8B-B14F-4D97-AF65-F5344CB8AC3E}">
        <p14:creationId xmlns:p14="http://schemas.microsoft.com/office/powerpoint/2010/main" val="944568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DFB49-7848-49E3-8E77-DC4B03AB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JUNIPER SALON  /  THE OPENING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FFC7B-2155-47D2-BC4F-E7CA32C0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An acceptance holds the spot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DBB09-7438-4D98-A374-9C0B1393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2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0EF14-F0BD-4EF3-87E7-535ABF49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Staff complete the booking in Square before recording confirmation.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411EB-C93C-4C12-ABBA-9A6902CE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01  Match the waitlist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971E1-733B-41BF-A73A-77004438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Service, duration, stylist, time,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and permission to contact.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16BD7-BE58-4AD5-9424-EF66D9ED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02  Offer one at a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A51DC-13C8-48B2-B0A2-D8893589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Earliest eligible client gets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an exclusive 15-minute offer.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4CA0D-3601-4F1E-BFC1-DA1F0F4F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03  Hold, then confirm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81633-6978-4FF9-99C8-47A443DA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Lena or Carla updates Square.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7f2fc75d9469f"/>
          <a:stretch xmlns:a="http://schemas.openxmlformats.org/drawingml/2006/main"/>
        </p:blipFill>
        <p:spPr>
          <a:xfrm xmlns:a="http://schemas.openxmlformats.org/drawingml/2006/main">
            <a:off x="4552950" y="2661126"/>
            <a:ext cx="7048500" cy="35359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41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1C75A-9ED2-4F06-8DEA-78B6669D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JUNIPER SALON  /  THE OPENING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61829-D271-485D-A9D2-4BFF6DDC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What happens when things go wrong?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7A004-D73F-44C4-8264-3A156B75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B9002-2261-4E44-91B8-24BA5E8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Temporal remembers who has the offer and how long they have to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5767C-3212-46EB-948D-E86FA38C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9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The app stops while someone is deciding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923B8-404B-4AF7-8C8A-028ECA1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86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We stopped and restarted the software handling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the waitlist. It remembered the same client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and their original deadline.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13F5B-C547-4FEE-9098-631B7FC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500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 client replies after their time is 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0D521-6A0B-4141-9EF1-F8918CA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5000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They see that their offer has expired.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They cannot claim a spot now offered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to someone else.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10AEA-C86A-499A-B88E-37E82682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 text won’t go through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F118C-3B60-4158-886A-8F0AC45C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For a temporary problem, the demo tries sending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again. If delivery fails, it offers the opening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to the next client who fits.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5C75B-C220-48A1-8E7C-51568612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 client taps “yes” twice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E11CC-D3F3-45D3-8D7C-C9CB4836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14925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Their spot stays held. The second tap</a:t>
            </a:r>
          </a:p>
          <a:p xmlns:a="http://schemas.openxmlformats.org/drawingml/2006/main">
            <a:pPr>
              <a:def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does not create another reservation.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83E62-7207-4DF5-BCDE-98089EB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We tested these situations in the prototype. Text messages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144218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E49B6-CBBA-4E22-9EE5-06A75625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JUNIPER SALON  /  THE OPENING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1A26B-FA1E-4928-A5CF-B5F37FC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 two-week trial with Lena and Carla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19EF7-DEF3-45DC-B821-024A50B3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E8075-1BAB-4382-B797-01C2B841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2 weeks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F4246-08F7-4769-A5A9-FF3DE477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trial length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CD383-59C2-48EE-ACC3-FC7CDE97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≥50%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18863-693E-4868-B2F8-A99F7F61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openings refilled: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6D4B5-893A-48F0-8D61-E208C25F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8D802-4BB2-4768-AE25-F53BFF4A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241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slots promised to two clients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269D6-8E11-4733-B9AD-82BB6D01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Before the first real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5974D-96B8-431D-9D59-574F6FBA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700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Connect real texts and the waitlist.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Add staff sign-in and permission to text clients.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Check Square before confirming each booking.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92b5706eb4d9b"/>
          <a:stretch xmlns:a="http://schemas.openxmlformats.org/drawingml/2006/main"/>
        </p:blipFill>
        <p:spPr>
          <a:xfrm xmlns:a="http://schemas.openxmlformats.org/drawingml/2006/main">
            <a:off x="8480660" y="2952750"/>
            <a:ext cx="2374429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85413-5D2E-4981-97ED-9C0F0178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9107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Demo: fictional clients and texts.</a:t>
            </a:r>
          </a:p>
          <a:p xmlns:a="http://schemas.openxmlformats.org/drawingml/2006/main">
            <a:pPr>
              <a:defRPr sz="127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Staff still update Square manually.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12188-9780-4EE4-9113-846B5B2C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973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A7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0AC3C-352D-424D-86A0-0CEC803A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E3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B2196-59B5-459C-B66B-65DED1AA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2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E3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E03AF-D50A-4517-BD15-99C1CE05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22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2873C-8DCC-40E8-94FE-13D8EAFC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1  OCT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B92A7-5721-43B5-857B-B0783494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Prepare the checklist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11E8E-0306-46C8-BF9D-383DB9F6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2  OCT 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6F3CD-02A7-43C0-9BCF-8F9DF90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1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Start the two-week trial</a:t>
            </a:r>
          </a:p>
          <a:p xmlns:a="http://schemas.openxmlformats.org/drawingml/2006/main">
            <a:pPr>
              <a:def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1 opening at a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FAC24-CFDE-4D81-901C-55448F49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3  NOV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4D731-EDC1-40DE-B1BC-AD8541A5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Review refills and</a:t>
            </a:r>
          </a:p>
          <a:p xmlns:a="http://schemas.openxmlformats.org/drawingml/2006/main">
            <a:pPr>
              <a:def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E35"/>
                </a:solidFill>
                <a:latin typeface="Helvetica Neue"/>
                <a:ea typeface="Helvetica Neue"/>
                <a:cs typeface="Helvetica Neue"/>
              </a:rPr>
              <a:t>staff follow-ups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C366B-A72E-46B3-915D-E7D2CFF0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6"/>
                </a:solidFill>
                <a:latin typeface="Helvetica Neue"/>
                <a:ea typeface="Helvetica Neue"/>
                <a:cs typeface="Helvetica Neue"/>
              </a:rPr>
              <a:t>Example dates, not a commitment. Start only after setup and testing. Targets are not results.</a:t>
            </a:r>
          </a:p>
        </p:txBody>
      </p:sp>
    </p:spTree>
    <p:extLst>
      <p:ext uri="{BB962C8B-B14F-4D97-AF65-F5344CB8AC3E}">
        <p14:creationId xmlns:p14="http://schemas.microsoft.com/office/powerpoint/2010/main" val="1377754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2026-10-05T00:17:10.9180000Z</dcterms:created>
  <dcterms:modified xsi:type="dcterms:W3CDTF">2026-10-05T00:17:10.9180000Z</dcterms:modified>
</coreProperties>
</file>